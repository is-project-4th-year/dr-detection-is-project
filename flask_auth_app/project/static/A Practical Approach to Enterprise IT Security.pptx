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1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9/21/2025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9/21/2025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9/21/2025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9/21/2025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9/21/2025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9/21/2025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9/21/2025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CAE8F-24E7-B06B-5916-5E9CD6782130}"/>
              </a:ext>
            </a:extLst>
          </p:cNvPr>
          <p:cNvSpPr>
            <a:spLocks noGrp="1"/>
          </p:cNvSpPr>
          <p:nvPr>
            <p:ph type="ctrTitle"/>
          </p:nvPr>
        </p:nvSpPr>
        <p:spPr>
          <a:xfrm>
            <a:off x="1051560" y="1432223"/>
            <a:ext cx="9966960" cy="2481016"/>
          </a:xfrm>
        </p:spPr>
        <p:txBody>
          <a:bodyPr/>
          <a:lstStyle/>
          <a:p>
            <a:r>
              <a:rPr lang="en-US" b="1" u="sng" dirty="0"/>
              <a:t> </a:t>
            </a:r>
            <a:r>
              <a:rPr lang="en-US" sz="3200" b="1" u="sng" dirty="0"/>
              <a:t>A Practical Approach to Enterprise IT Security</a:t>
            </a:r>
            <a:br>
              <a:rPr lang="en-US" sz="3200" dirty="0"/>
            </a:br>
            <a:r>
              <a:rPr lang="en-US" sz="4400" dirty="0"/>
              <a:t>GROUP 8 </a:t>
            </a:r>
          </a:p>
        </p:txBody>
      </p:sp>
      <p:sp>
        <p:nvSpPr>
          <p:cNvPr id="3" name="Subtitle 2">
            <a:extLst>
              <a:ext uri="{FF2B5EF4-FFF2-40B4-BE49-F238E27FC236}">
                <a16:creationId xmlns:a16="http://schemas.microsoft.com/office/drawing/2014/main" id="{BF324F63-688C-C2FD-8BB6-2783010F2598}"/>
              </a:ext>
            </a:extLst>
          </p:cNvPr>
          <p:cNvSpPr>
            <a:spLocks noGrp="1"/>
          </p:cNvSpPr>
          <p:nvPr>
            <p:ph type="subTitle" idx="1"/>
          </p:nvPr>
        </p:nvSpPr>
        <p:spPr>
          <a:xfrm>
            <a:off x="1069848" y="3913239"/>
            <a:ext cx="7891272" cy="2772696"/>
          </a:xfrm>
        </p:spPr>
        <p:txBody>
          <a:bodyPr>
            <a:normAutofit fontScale="92500" lnSpcReduction="10000"/>
          </a:bodyPr>
          <a:lstStyle/>
          <a:p>
            <a:r>
              <a:rPr lang="en-US" sz="2400" b="1" dirty="0"/>
              <a:t>GROUP MEMBERS</a:t>
            </a:r>
          </a:p>
          <a:p>
            <a:pPr fontAlgn="base"/>
            <a:r>
              <a:rPr lang="en-US" dirty="0"/>
              <a:t>Kitonga Sammy </a:t>
            </a:r>
            <a:r>
              <a:rPr lang="en-US" dirty="0" err="1"/>
              <a:t>Musangi</a:t>
            </a:r>
            <a:r>
              <a:rPr lang="en-US" dirty="0"/>
              <a:t> 148224</a:t>
            </a:r>
          </a:p>
          <a:p>
            <a:pPr fontAlgn="base"/>
            <a:r>
              <a:rPr lang="en-US" dirty="0"/>
              <a:t>Debra Juma 151547</a:t>
            </a:r>
          </a:p>
          <a:p>
            <a:pPr fontAlgn="base"/>
            <a:r>
              <a:rPr lang="en-US" dirty="0"/>
              <a:t>Ali </a:t>
            </a:r>
            <a:r>
              <a:rPr lang="en-US" dirty="0" err="1"/>
              <a:t>Raqiba</a:t>
            </a:r>
            <a:r>
              <a:rPr lang="en-US" dirty="0"/>
              <a:t> 148225</a:t>
            </a:r>
          </a:p>
          <a:p>
            <a:pPr fontAlgn="base"/>
            <a:r>
              <a:rPr lang="en-US" dirty="0" err="1"/>
              <a:t>Misati</a:t>
            </a:r>
            <a:r>
              <a:rPr lang="en-US" dirty="0"/>
              <a:t> Sharly 151961</a:t>
            </a:r>
          </a:p>
          <a:p>
            <a:pPr fontAlgn="base"/>
            <a:r>
              <a:rPr lang="en-US" dirty="0"/>
              <a:t>Tevin Omondi 150173</a:t>
            </a:r>
          </a:p>
          <a:p>
            <a:pPr fontAlgn="base"/>
            <a:r>
              <a:rPr lang="en-US" dirty="0"/>
              <a:t>Emmanuel Maina 151366</a:t>
            </a:r>
          </a:p>
          <a:p>
            <a:endParaRPr lang="en-US" sz="2400" dirty="0"/>
          </a:p>
        </p:txBody>
      </p:sp>
    </p:spTree>
    <p:extLst>
      <p:ext uri="{BB962C8B-B14F-4D97-AF65-F5344CB8AC3E}">
        <p14:creationId xmlns:p14="http://schemas.microsoft.com/office/powerpoint/2010/main" val="3478602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EE481-B995-5356-8F5C-8B38A5CAA1AB}"/>
              </a:ext>
            </a:extLst>
          </p:cNvPr>
          <p:cNvSpPr>
            <a:spLocks noGrp="1"/>
          </p:cNvSpPr>
          <p:nvPr>
            <p:ph type="title"/>
          </p:nvPr>
        </p:nvSpPr>
        <p:spPr>
          <a:xfrm>
            <a:off x="1069848" y="484632"/>
            <a:ext cx="10058400" cy="773897"/>
          </a:xfrm>
        </p:spPr>
        <p:txBody>
          <a:bodyPr>
            <a:normAutofit fontScale="90000"/>
          </a:bodyPr>
          <a:lstStyle/>
          <a:p>
            <a:r>
              <a:rPr lang="en-US" dirty="0"/>
              <a:t>Introduction and the layers </a:t>
            </a:r>
          </a:p>
        </p:txBody>
      </p:sp>
      <p:sp>
        <p:nvSpPr>
          <p:cNvPr id="3" name="Content Placeholder 2">
            <a:extLst>
              <a:ext uri="{FF2B5EF4-FFF2-40B4-BE49-F238E27FC236}">
                <a16:creationId xmlns:a16="http://schemas.microsoft.com/office/drawing/2014/main" id="{B0CCC461-5771-766F-5140-70273681CC4A}"/>
              </a:ext>
            </a:extLst>
          </p:cNvPr>
          <p:cNvSpPr>
            <a:spLocks noGrp="1"/>
          </p:cNvSpPr>
          <p:nvPr>
            <p:ph idx="1"/>
          </p:nvPr>
        </p:nvSpPr>
        <p:spPr>
          <a:xfrm>
            <a:off x="1069848" y="1179871"/>
            <a:ext cx="10058400" cy="5678129"/>
          </a:xfrm>
        </p:spPr>
        <p:txBody>
          <a:bodyPr>
            <a:normAutofit/>
          </a:bodyPr>
          <a:lstStyle/>
          <a:p>
            <a:r>
              <a:rPr lang="en-US" dirty="0"/>
              <a:t>As the internet has grown, so have the threats and sophistication of cyberattacks, reaching a point of inevitability. This is because attackers today have: </a:t>
            </a:r>
          </a:p>
          <a:p>
            <a:pPr lvl="1" fontAlgn="base">
              <a:buFont typeface="Wingdings" panose="05000000000000000000" pitchFamily="2" charset="2"/>
              <a:buChar char="ü"/>
            </a:pPr>
            <a:r>
              <a:rPr lang="en-US" b="1" dirty="0"/>
              <a:t>The Means</a:t>
            </a:r>
            <a:r>
              <a:rPr lang="en-US" dirty="0"/>
              <a:t>- Freely available tools, of which many are automated and lack a major skill gap</a:t>
            </a:r>
          </a:p>
          <a:p>
            <a:pPr lvl="1" fontAlgn="base">
              <a:buFont typeface="Wingdings" panose="05000000000000000000" pitchFamily="2" charset="2"/>
              <a:buChar char="ü"/>
            </a:pPr>
            <a:r>
              <a:rPr lang="en-US" b="1" dirty="0"/>
              <a:t>Motive</a:t>
            </a:r>
            <a:r>
              <a:rPr lang="en-US" dirty="0"/>
              <a:t>- Thai ranges from petty theft and cyber pranks to the extreme levels of espionage or terrorism</a:t>
            </a:r>
          </a:p>
          <a:p>
            <a:pPr lvl="1" fontAlgn="base">
              <a:buFont typeface="Wingdings" panose="05000000000000000000" pitchFamily="2" charset="2"/>
              <a:buChar char="ü"/>
            </a:pPr>
            <a:r>
              <a:rPr lang="en-US" b="1" dirty="0"/>
              <a:t>Opportunity</a:t>
            </a:r>
            <a:r>
              <a:rPr lang="en-US" dirty="0"/>
              <a:t>- Every network connection or exposed system becomes a potential entry point</a:t>
            </a:r>
          </a:p>
          <a:p>
            <a:r>
              <a:rPr lang="en-US" dirty="0"/>
              <a:t>As for these reasons, piecemeal security is no longer sufficient as this method creates a false sense of security and leaves the organizations very vulnerable.</a:t>
            </a:r>
          </a:p>
          <a:p>
            <a:r>
              <a:rPr lang="en-US" dirty="0"/>
              <a:t>An IT security framework is proposed that is made up of 3 integrated layers:</a:t>
            </a:r>
          </a:p>
          <a:p>
            <a:pPr lvl="1" fontAlgn="base">
              <a:buFont typeface="Wingdings" panose="05000000000000000000" pitchFamily="2" charset="2"/>
              <a:buChar char="ü"/>
            </a:pPr>
            <a:r>
              <a:rPr lang="en-US" b="1" dirty="0"/>
              <a:t>Multigroup involvement</a:t>
            </a:r>
            <a:r>
              <a:rPr lang="en-US" dirty="0"/>
              <a:t>- This essentially means that IT security is not just a job for the technical staff alone but also requires cooperation from general users, managers and the dedicated security team</a:t>
            </a:r>
          </a:p>
          <a:p>
            <a:pPr lvl="1" fontAlgn="base">
              <a:buFont typeface="Wingdings" panose="05000000000000000000" pitchFamily="2" charset="2"/>
              <a:buChar char="ü"/>
            </a:pPr>
            <a:r>
              <a:rPr lang="en-US" b="1" dirty="0"/>
              <a:t>Multidimensional security mechanism</a:t>
            </a:r>
            <a:r>
              <a:rPr lang="en-US" dirty="0"/>
              <a:t>- The security system must combine preventive, detective and responsive measures instead of relying on prevention alone.</a:t>
            </a:r>
          </a:p>
          <a:p>
            <a:pPr lvl="1" fontAlgn="base">
              <a:buFont typeface="Wingdings" panose="05000000000000000000" pitchFamily="2" charset="2"/>
              <a:buChar char="ü"/>
            </a:pPr>
            <a:r>
              <a:rPr lang="en-US" b="1" dirty="0"/>
              <a:t>Multilayer defenses</a:t>
            </a:r>
            <a:r>
              <a:rPr lang="en-US" dirty="0"/>
              <a:t>- Organizations should protect assets at multiple points thus ensuring that if one defense fails, the others can survive and still stand</a:t>
            </a:r>
          </a:p>
          <a:p>
            <a:endParaRPr lang="en-US" dirty="0"/>
          </a:p>
        </p:txBody>
      </p:sp>
    </p:spTree>
    <p:extLst>
      <p:ext uri="{BB962C8B-B14F-4D97-AF65-F5344CB8AC3E}">
        <p14:creationId xmlns:p14="http://schemas.microsoft.com/office/powerpoint/2010/main" val="2332219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CE9B8-09CF-FBDD-43C9-5DB06F11E06A}"/>
              </a:ext>
            </a:extLst>
          </p:cNvPr>
          <p:cNvSpPr>
            <a:spLocks noGrp="1"/>
          </p:cNvSpPr>
          <p:nvPr>
            <p:ph type="title"/>
          </p:nvPr>
        </p:nvSpPr>
        <p:spPr>
          <a:xfrm>
            <a:off x="1069848" y="196645"/>
            <a:ext cx="10058400" cy="1022555"/>
          </a:xfrm>
        </p:spPr>
        <p:txBody>
          <a:bodyPr>
            <a:normAutofit/>
          </a:bodyPr>
          <a:lstStyle/>
          <a:p>
            <a:r>
              <a:rPr lang="en-US" dirty="0"/>
              <a:t>Multigroup involvement</a:t>
            </a:r>
          </a:p>
        </p:txBody>
      </p:sp>
      <p:sp>
        <p:nvSpPr>
          <p:cNvPr id="3" name="Content Placeholder 2">
            <a:extLst>
              <a:ext uri="{FF2B5EF4-FFF2-40B4-BE49-F238E27FC236}">
                <a16:creationId xmlns:a16="http://schemas.microsoft.com/office/drawing/2014/main" id="{F7C32115-B18D-FC29-0C87-3BAEF159017B}"/>
              </a:ext>
            </a:extLst>
          </p:cNvPr>
          <p:cNvSpPr>
            <a:spLocks noGrp="1"/>
          </p:cNvSpPr>
          <p:nvPr>
            <p:ph idx="1"/>
          </p:nvPr>
        </p:nvSpPr>
        <p:spPr>
          <a:xfrm>
            <a:off x="1069848" y="1219200"/>
            <a:ext cx="10058400" cy="4953000"/>
          </a:xfrm>
        </p:spPr>
        <p:txBody>
          <a:bodyPr>
            <a:normAutofit/>
          </a:bodyPr>
          <a:lstStyle/>
          <a:p>
            <a:r>
              <a:rPr lang="en-US" dirty="0"/>
              <a:t>Enterprise IT security is all about the tools and  the participation of various groups, that is the security team, managers, and general users. In the absence of participation by all, even the most robust security features can be circumvented or ignored.</a:t>
            </a:r>
          </a:p>
          <a:p>
            <a:endParaRPr lang="en-US" dirty="0"/>
          </a:p>
          <a:p>
            <a:pPr marL="274320" lvl="1" indent="0">
              <a:buNone/>
            </a:pPr>
            <a:r>
              <a:rPr lang="en-US" sz="2000" dirty="0"/>
              <a:t>1.</a:t>
            </a:r>
            <a:r>
              <a:rPr lang="en-US" sz="2000" b="1" dirty="0"/>
              <a:t> Security Team</a:t>
            </a:r>
            <a:endParaRPr lang="en-US" sz="2000" dirty="0"/>
          </a:p>
          <a:p>
            <a:r>
              <a:rPr lang="en-US" dirty="0"/>
              <a:t>Role: Central technical experts who design, implement, and maintain security.</a:t>
            </a:r>
          </a:p>
          <a:p>
            <a:pPr marL="274320" lvl="1" indent="0">
              <a:buNone/>
            </a:pPr>
            <a:r>
              <a:rPr lang="en-US" sz="2000" b="1" dirty="0"/>
              <a:t>Key tasks:</a:t>
            </a:r>
          </a:p>
          <a:p>
            <a:pPr lvl="1">
              <a:buFont typeface="Wingdings" panose="05000000000000000000" pitchFamily="2" charset="2"/>
              <a:buChar char="ü"/>
            </a:pPr>
            <a:r>
              <a:rPr lang="en-US" sz="2000" dirty="0"/>
              <a:t>Set and enforce security policies.</a:t>
            </a:r>
          </a:p>
          <a:p>
            <a:pPr lvl="1">
              <a:buFont typeface="Wingdings" panose="05000000000000000000" pitchFamily="2" charset="2"/>
              <a:buChar char="ü"/>
            </a:pPr>
            <a:r>
              <a:rPr lang="en-US" sz="2000" dirty="0"/>
              <a:t>Evaluate risks and buy suitable security products (firewalls, IDS, antivirus, encryption, auditing tools).</a:t>
            </a:r>
          </a:p>
          <a:p>
            <a:pPr lvl="1">
              <a:buFont typeface="Wingdings" panose="05000000000000000000" pitchFamily="2" charset="2"/>
              <a:buChar char="ü"/>
            </a:pPr>
            <a:r>
              <a:rPr lang="en-US" sz="2000" dirty="0"/>
              <a:t>Build a secure, integrated IT environment.</a:t>
            </a:r>
          </a:p>
          <a:p>
            <a:pPr marL="0" indent="0">
              <a:buNone/>
            </a:pPr>
            <a:endParaRPr lang="en-US" dirty="0"/>
          </a:p>
        </p:txBody>
      </p:sp>
    </p:spTree>
    <p:extLst>
      <p:ext uri="{BB962C8B-B14F-4D97-AF65-F5344CB8AC3E}">
        <p14:creationId xmlns:p14="http://schemas.microsoft.com/office/powerpoint/2010/main" val="2158302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A65D7B-7BC6-A98D-64F2-33E8F4BA94B5}"/>
              </a:ext>
            </a:extLst>
          </p:cNvPr>
          <p:cNvSpPr>
            <a:spLocks noGrp="1"/>
          </p:cNvSpPr>
          <p:nvPr>
            <p:ph idx="1"/>
          </p:nvPr>
        </p:nvSpPr>
        <p:spPr>
          <a:xfrm>
            <a:off x="1069848" y="678425"/>
            <a:ext cx="10058400" cy="5840361"/>
          </a:xfrm>
        </p:spPr>
        <p:txBody>
          <a:bodyPr>
            <a:normAutofit fontScale="85000" lnSpcReduction="20000"/>
          </a:bodyPr>
          <a:lstStyle/>
          <a:p>
            <a:pPr marL="0" indent="0">
              <a:buNone/>
            </a:pPr>
            <a:r>
              <a:rPr lang="en-US" sz="2200" dirty="0"/>
              <a:t>	2.</a:t>
            </a:r>
            <a:r>
              <a:rPr lang="en-US" sz="2200" b="1" dirty="0"/>
              <a:t> General Users</a:t>
            </a:r>
            <a:endParaRPr lang="en-US" sz="2200" dirty="0"/>
          </a:p>
          <a:p>
            <a:r>
              <a:rPr lang="en-US" sz="2200" dirty="0"/>
              <a:t>Role: The daily employees who use systems.</a:t>
            </a:r>
          </a:p>
          <a:p>
            <a:pPr marL="0" indent="0">
              <a:buNone/>
            </a:pPr>
            <a:r>
              <a:rPr lang="en-US" sz="2200" b="1" dirty="0"/>
              <a:t>Key tasks</a:t>
            </a:r>
            <a:r>
              <a:rPr lang="en-US" sz="2200" dirty="0"/>
              <a:t>:</a:t>
            </a:r>
          </a:p>
          <a:p>
            <a:pPr>
              <a:buFont typeface="Wingdings" panose="05000000000000000000" pitchFamily="2" charset="2"/>
              <a:buChar char="ü"/>
            </a:pPr>
            <a:r>
              <a:rPr lang="en-US" sz="2200" dirty="0"/>
              <a:t>Obey policies (IDs, passwords, access controls).</a:t>
            </a:r>
          </a:p>
          <a:p>
            <a:pPr>
              <a:buFont typeface="Wingdings" panose="05000000000000000000" pitchFamily="2" charset="2"/>
              <a:buChar char="ü"/>
            </a:pPr>
            <a:r>
              <a:rPr lang="en-US" sz="2200" dirty="0"/>
              <a:t>Take responsibility for their actions.</a:t>
            </a:r>
          </a:p>
          <a:p>
            <a:pPr marL="0" indent="0">
              <a:buNone/>
            </a:pPr>
            <a:endParaRPr lang="en-US" sz="2200" dirty="0"/>
          </a:p>
          <a:p>
            <a:pPr marL="0" indent="0">
              <a:buNone/>
            </a:pPr>
            <a:r>
              <a:rPr lang="en-US" sz="2200" dirty="0"/>
              <a:t>	</a:t>
            </a:r>
            <a:r>
              <a:rPr lang="en-US" sz="2200" b="1" dirty="0"/>
              <a:t>Challenges:</a:t>
            </a:r>
          </a:p>
          <a:p>
            <a:pPr>
              <a:buFont typeface="Wingdings" panose="05000000000000000000" pitchFamily="2" charset="2"/>
              <a:buChar char="ü"/>
            </a:pPr>
            <a:r>
              <a:rPr lang="en-US" sz="2200" dirty="0"/>
              <a:t>Poor password habits (e.g., writing them on sticky notes, using weak passwords over and over).</a:t>
            </a:r>
          </a:p>
          <a:p>
            <a:pPr>
              <a:buFont typeface="Wingdings" panose="05000000000000000000" pitchFamily="2" charset="2"/>
              <a:buChar char="ü"/>
            </a:pPr>
            <a:r>
              <a:rPr lang="en-US" sz="2200" dirty="0"/>
              <a:t>Not obeying policies that are "inconvenient."</a:t>
            </a:r>
          </a:p>
          <a:p>
            <a:pPr>
              <a:buFont typeface="Wingdings" panose="05000000000000000000" pitchFamily="2" charset="2"/>
              <a:buChar char="ü"/>
            </a:pPr>
            <a:endParaRPr lang="en-US" sz="2200" dirty="0"/>
          </a:p>
          <a:p>
            <a:pPr marL="0" indent="0">
              <a:buNone/>
            </a:pPr>
            <a:r>
              <a:rPr lang="en-US" sz="2200" b="1" dirty="0"/>
              <a:t>	Solution:</a:t>
            </a:r>
          </a:p>
          <a:p>
            <a:pPr>
              <a:buFont typeface="Wingdings" panose="05000000000000000000" pitchFamily="2" charset="2"/>
              <a:buChar char="ü"/>
            </a:pPr>
            <a:r>
              <a:rPr lang="en-US" sz="2200" dirty="0"/>
              <a:t>Security awareness training that gets users to understand why security matters.</a:t>
            </a:r>
          </a:p>
          <a:p>
            <a:pPr>
              <a:buFont typeface="Wingdings" panose="05000000000000000000" pitchFamily="2" charset="2"/>
              <a:buChar char="ü"/>
            </a:pPr>
            <a:r>
              <a:rPr lang="en-US" sz="2200" dirty="0"/>
              <a:t>Hold them responsible for compliance.</a:t>
            </a:r>
          </a:p>
          <a:p>
            <a:pPr>
              <a:buFont typeface="Wingdings" panose="05000000000000000000" pitchFamily="2" charset="2"/>
              <a:buChar char="ü"/>
            </a:pPr>
            <a:r>
              <a:rPr lang="en-US" sz="2200" dirty="0"/>
              <a:t>Incentivize reporting security violations.</a:t>
            </a:r>
          </a:p>
          <a:p>
            <a:pPr marL="0" indent="0">
              <a:buNone/>
            </a:pPr>
            <a:br>
              <a:rPr lang="en-US" sz="2200" dirty="0"/>
            </a:br>
            <a:endParaRPr lang="en-US" sz="2200" dirty="0"/>
          </a:p>
        </p:txBody>
      </p:sp>
    </p:spTree>
    <p:extLst>
      <p:ext uri="{BB962C8B-B14F-4D97-AF65-F5344CB8AC3E}">
        <p14:creationId xmlns:p14="http://schemas.microsoft.com/office/powerpoint/2010/main" val="2832157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00D755-4AF9-4FA7-4050-67B4F8343AD1}"/>
              </a:ext>
            </a:extLst>
          </p:cNvPr>
          <p:cNvSpPr>
            <a:spLocks noGrp="1"/>
          </p:cNvSpPr>
          <p:nvPr>
            <p:ph idx="1"/>
          </p:nvPr>
        </p:nvSpPr>
        <p:spPr>
          <a:xfrm>
            <a:off x="1069848" y="816077"/>
            <a:ext cx="10058400" cy="5356123"/>
          </a:xfrm>
        </p:spPr>
        <p:txBody>
          <a:bodyPr>
            <a:normAutofit fontScale="92500" lnSpcReduction="10000"/>
          </a:bodyPr>
          <a:lstStyle/>
          <a:p>
            <a:pPr marL="0" indent="0">
              <a:buNone/>
            </a:pPr>
            <a:r>
              <a:rPr lang="en-US" sz="2200" dirty="0"/>
              <a:t>3. </a:t>
            </a:r>
            <a:r>
              <a:rPr lang="en-US" sz="2200" b="1" dirty="0"/>
              <a:t>Managers (Senior Management)</a:t>
            </a:r>
            <a:endParaRPr lang="en-US" sz="2200" dirty="0"/>
          </a:p>
          <a:p>
            <a:r>
              <a:rPr lang="en-US" sz="2200" dirty="0"/>
              <a:t>Role: Provide commitment, resources, and leadership.</a:t>
            </a:r>
          </a:p>
          <a:p>
            <a:pPr marL="0" indent="0">
              <a:buNone/>
            </a:pPr>
            <a:r>
              <a:rPr lang="en-US" sz="2200" dirty="0"/>
              <a:t>	</a:t>
            </a:r>
            <a:r>
              <a:rPr lang="en-US" sz="2200" b="1" dirty="0"/>
              <a:t>Primary responsibilities:</a:t>
            </a:r>
          </a:p>
          <a:p>
            <a:pPr>
              <a:buFont typeface="Wingdings" panose="05000000000000000000" pitchFamily="2" charset="2"/>
              <a:buChar char="ü"/>
            </a:pPr>
            <a:r>
              <a:rPr lang="en-US" sz="2200" dirty="0"/>
              <a:t>Approve and disseminate security policies.</a:t>
            </a:r>
          </a:p>
          <a:p>
            <a:pPr>
              <a:buFont typeface="Wingdings" panose="05000000000000000000" pitchFamily="2" charset="2"/>
              <a:buChar char="ü"/>
            </a:pPr>
            <a:r>
              <a:rPr lang="en-US" sz="2200" dirty="0"/>
              <a:t>Treat security as a business investment, not a technical cost.</a:t>
            </a:r>
          </a:p>
          <a:p>
            <a:pPr>
              <a:buFont typeface="Wingdings" panose="05000000000000000000" pitchFamily="2" charset="2"/>
              <a:buChar char="ü"/>
            </a:pPr>
            <a:r>
              <a:rPr lang="en-US" sz="2200" dirty="0"/>
              <a:t>Align business goals and security goals.</a:t>
            </a:r>
          </a:p>
          <a:p>
            <a:pPr>
              <a:buFont typeface="Wingdings" panose="05000000000000000000" pitchFamily="2" charset="2"/>
              <a:buChar char="ü"/>
            </a:pPr>
            <a:r>
              <a:rPr lang="en-US" sz="2200" dirty="0"/>
              <a:t>Instill a culture where security is business practice.</a:t>
            </a:r>
          </a:p>
          <a:p>
            <a:pPr marL="0" indent="0">
              <a:buNone/>
            </a:pPr>
            <a:endParaRPr lang="en-US" sz="2200" dirty="0"/>
          </a:p>
          <a:p>
            <a:pPr marL="0" indent="0">
              <a:buNone/>
            </a:pPr>
            <a:r>
              <a:rPr lang="en-US" sz="2200" b="1" dirty="0"/>
              <a:t>	Risk if overlooked: </a:t>
            </a:r>
          </a:p>
          <a:p>
            <a:pPr>
              <a:buFont typeface="Wingdings" panose="05000000000000000000" pitchFamily="2" charset="2"/>
              <a:buChar char="ü"/>
            </a:pPr>
            <a:r>
              <a:rPr lang="en-US" sz="2200" dirty="0"/>
              <a:t>Media and reputational damage when a public breach occurs.</a:t>
            </a:r>
          </a:p>
          <a:p>
            <a:pPr>
              <a:buFont typeface="Wingdings" panose="05000000000000000000" pitchFamily="2" charset="2"/>
              <a:buChar char="ü"/>
            </a:pPr>
            <a:r>
              <a:rPr lang="en-US" sz="2200" dirty="0"/>
              <a:t>Loss of customer, partner, and employee trust.</a:t>
            </a:r>
            <a:br>
              <a:rPr lang="en-US" dirty="0"/>
            </a:br>
            <a:endParaRPr lang="en-US" dirty="0"/>
          </a:p>
          <a:p>
            <a:pPr marL="0" indent="0">
              <a:buNone/>
            </a:pPr>
            <a:br>
              <a:rPr lang="en-US" dirty="0"/>
            </a:br>
            <a:endParaRPr lang="en-US" dirty="0"/>
          </a:p>
        </p:txBody>
      </p:sp>
    </p:spTree>
    <p:extLst>
      <p:ext uri="{BB962C8B-B14F-4D97-AF65-F5344CB8AC3E}">
        <p14:creationId xmlns:p14="http://schemas.microsoft.com/office/powerpoint/2010/main" val="1903671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40CA6-EFE7-03B5-33AD-3B4FE0FFADE8}"/>
              </a:ext>
            </a:extLst>
          </p:cNvPr>
          <p:cNvSpPr>
            <a:spLocks noGrp="1"/>
          </p:cNvSpPr>
          <p:nvPr>
            <p:ph type="title"/>
          </p:nvPr>
        </p:nvSpPr>
        <p:spPr>
          <a:xfrm>
            <a:off x="1069848" y="484632"/>
            <a:ext cx="10058400" cy="665742"/>
          </a:xfrm>
        </p:spPr>
        <p:txBody>
          <a:bodyPr>
            <a:normAutofit fontScale="90000"/>
          </a:bodyPr>
          <a:lstStyle/>
          <a:p>
            <a:r>
              <a:rPr lang="en-US" dirty="0"/>
              <a:t>Multidimensional security mechanisms</a:t>
            </a:r>
          </a:p>
        </p:txBody>
      </p:sp>
      <p:sp>
        <p:nvSpPr>
          <p:cNvPr id="3" name="Content Placeholder 2">
            <a:extLst>
              <a:ext uri="{FF2B5EF4-FFF2-40B4-BE49-F238E27FC236}">
                <a16:creationId xmlns:a16="http://schemas.microsoft.com/office/drawing/2014/main" id="{71002853-22C5-7E6F-04BD-02A14E05108C}"/>
              </a:ext>
            </a:extLst>
          </p:cNvPr>
          <p:cNvSpPr>
            <a:spLocks noGrp="1"/>
          </p:cNvSpPr>
          <p:nvPr>
            <p:ph idx="1"/>
          </p:nvPr>
        </p:nvSpPr>
        <p:spPr>
          <a:xfrm>
            <a:off x="1069848" y="1327355"/>
            <a:ext cx="10058400" cy="5358580"/>
          </a:xfrm>
        </p:spPr>
        <p:txBody>
          <a:bodyPr>
            <a:noAutofit/>
          </a:bodyPr>
          <a:lstStyle/>
          <a:p>
            <a:r>
              <a:rPr lang="en-US" b="1" dirty="0"/>
              <a:t>Multidimensional Security Mechanisms</a:t>
            </a:r>
            <a:r>
              <a:rPr lang="en-US" dirty="0"/>
              <a:t> are presented as a key part of the proposed </a:t>
            </a:r>
            <a:r>
              <a:rPr lang="en-US" b="1" dirty="0"/>
              <a:t>Enterprise IT Security Framework</a:t>
            </a:r>
            <a:r>
              <a:rPr lang="en-US" dirty="0"/>
              <a:t>. The idea is that relying on one-dimensional approaches (such as only firewalls or only antivirus) is no longer adequate against today’s sophisticated threats. Instead, organizations need to implement multiple coordinated measures across different dimensions. These include:</a:t>
            </a:r>
          </a:p>
          <a:p>
            <a:pPr marL="0" indent="0">
              <a:buNone/>
            </a:pPr>
            <a:br>
              <a:rPr lang="en-US" dirty="0"/>
            </a:br>
            <a:r>
              <a:rPr lang="en-US" b="1" dirty="0"/>
              <a:t>1. Preventive Measures</a:t>
            </a:r>
          </a:p>
          <a:p>
            <a:r>
              <a:rPr lang="en-US" dirty="0"/>
              <a:t>These aim to stop attacks before they occur. Like walls and locks around a fortress, they protect information from unauthorized access or modification. Examples:</a:t>
            </a:r>
          </a:p>
          <a:p>
            <a:pPr lvl="1">
              <a:buFont typeface="Wingdings" panose="05000000000000000000" pitchFamily="2" charset="2"/>
              <a:buChar char="ü"/>
            </a:pPr>
            <a:r>
              <a:rPr lang="en-US" sz="2000" b="1" dirty="0"/>
              <a:t>Security policy</a:t>
            </a:r>
            <a:r>
              <a:rPr lang="en-US" sz="2000" dirty="0"/>
              <a:t> – Defines what must be protected and assigns responsibilities for enforcement.</a:t>
            </a:r>
          </a:p>
          <a:p>
            <a:pPr lvl="1">
              <a:buFont typeface="Wingdings" panose="05000000000000000000" pitchFamily="2" charset="2"/>
              <a:buChar char="ü"/>
            </a:pPr>
            <a:r>
              <a:rPr lang="en-US" sz="2000" b="1" dirty="0"/>
              <a:t>Security awareness</a:t>
            </a:r>
            <a:r>
              <a:rPr lang="en-US" sz="2000" dirty="0"/>
              <a:t> – Training and sensitizing employees on safe practices and reporting violations.</a:t>
            </a:r>
          </a:p>
          <a:p>
            <a:pPr lvl="1">
              <a:buFont typeface="Wingdings" panose="05000000000000000000" pitchFamily="2" charset="2"/>
              <a:buChar char="ü"/>
            </a:pPr>
            <a:r>
              <a:rPr lang="en-US" sz="2000" b="1" dirty="0"/>
              <a:t>Access controls</a:t>
            </a:r>
            <a:r>
              <a:rPr lang="en-US" sz="2000" dirty="0"/>
              <a:t> – Restricting access based on need-to-know, user IDs, authentication, and authorization.</a:t>
            </a:r>
          </a:p>
          <a:p>
            <a:pPr lvl="1">
              <a:buFont typeface="Wingdings" panose="05000000000000000000" pitchFamily="2" charset="2"/>
              <a:buChar char="ü"/>
            </a:pPr>
            <a:r>
              <a:rPr lang="en-US" sz="2000" b="1" dirty="0"/>
              <a:t>Authentication tools</a:t>
            </a:r>
            <a:r>
              <a:rPr lang="en-US" sz="2000" dirty="0"/>
              <a:t> – Cryptographically based tokens, access control lists.</a:t>
            </a:r>
          </a:p>
        </p:txBody>
      </p:sp>
    </p:spTree>
    <p:extLst>
      <p:ext uri="{BB962C8B-B14F-4D97-AF65-F5344CB8AC3E}">
        <p14:creationId xmlns:p14="http://schemas.microsoft.com/office/powerpoint/2010/main" val="397688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16FFA0-FE86-D5AE-2D46-625B4C65DFA9}"/>
              </a:ext>
            </a:extLst>
          </p:cNvPr>
          <p:cNvSpPr>
            <a:spLocks noGrp="1"/>
          </p:cNvSpPr>
          <p:nvPr>
            <p:ph idx="1"/>
          </p:nvPr>
        </p:nvSpPr>
        <p:spPr>
          <a:xfrm>
            <a:off x="1069848" y="629265"/>
            <a:ext cx="10058400" cy="5909187"/>
          </a:xfrm>
        </p:spPr>
        <p:txBody>
          <a:bodyPr>
            <a:normAutofit fontScale="92500" lnSpcReduction="20000"/>
          </a:bodyPr>
          <a:lstStyle/>
          <a:p>
            <a:pPr lvl="1">
              <a:buFont typeface="Wingdings" panose="05000000000000000000" pitchFamily="2" charset="2"/>
              <a:buChar char="ü"/>
            </a:pPr>
            <a:r>
              <a:rPr lang="en-US" sz="2200" b="1" dirty="0"/>
              <a:t>Firewalls</a:t>
            </a:r>
            <a:r>
              <a:rPr lang="en-US" sz="2200" dirty="0"/>
              <a:t> – Restricting network traffic by source, destination, or service.</a:t>
            </a:r>
          </a:p>
          <a:p>
            <a:pPr lvl="1">
              <a:buFont typeface="Wingdings" panose="05000000000000000000" pitchFamily="2" charset="2"/>
              <a:buChar char="ü"/>
            </a:pPr>
            <a:r>
              <a:rPr lang="en-US" sz="2200" b="1" dirty="0"/>
              <a:t>Content screening software</a:t>
            </a:r>
            <a:r>
              <a:rPr lang="en-US" sz="2200" dirty="0"/>
              <a:t> – Filtering malicious code or unapproved downloads.</a:t>
            </a:r>
          </a:p>
          <a:p>
            <a:pPr marL="274320" lvl="1" indent="0">
              <a:buNone/>
            </a:pPr>
            <a:br>
              <a:rPr lang="en-US" sz="2200" dirty="0"/>
            </a:br>
            <a:r>
              <a:rPr lang="en-US" sz="2200" b="1" dirty="0"/>
              <a:t>2. Detective Measures</a:t>
            </a:r>
          </a:p>
          <a:p>
            <a:r>
              <a:rPr lang="en-US" sz="2200" dirty="0"/>
              <a:t>These act like alarms and surveillance, identifying breaches that bypass prevention. They constitute a </a:t>
            </a:r>
            <a:r>
              <a:rPr lang="en-US" sz="2200" b="1" dirty="0"/>
              <a:t>second line of defense</a:t>
            </a:r>
            <a:r>
              <a:rPr lang="en-US" sz="2200" dirty="0"/>
              <a:t>:</a:t>
            </a:r>
          </a:p>
          <a:p>
            <a:pPr marL="0" indent="0">
              <a:buNone/>
            </a:pPr>
            <a:endParaRPr lang="en-US" sz="2200" dirty="0"/>
          </a:p>
          <a:p>
            <a:pPr lvl="1">
              <a:buFont typeface="Wingdings" panose="05000000000000000000" pitchFamily="2" charset="2"/>
              <a:buChar char="ü"/>
            </a:pPr>
            <a:r>
              <a:rPr lang="en-US" sz="2200" b="1" dirty="0"/>
              <a:t>Internal firewalls</a:t>
            </a:r>
            <a:r>
              <a:rPr lang="en-US" sz="2200" dirty="0"/>
              <a:t> – Monitor suspicious traffic and log attempts.</a:t>
            </a:r>
          </a:p>
          <a:p>
            <a:pPr lvl="1">
              <a:buFont typeface="Wingdings" panose="05000000000000000000" pitchFamily="2" charset="2"/>
              <a:buChar char="ü"/>
            </a:pPr>
            <a:r>
              <a:rPr lang="en-US" sz="2200" b="1" dirty="0"/>
              <a:t>Intrusion detection systems (IDS)</a:t>
            </a:r>
            <a:r>
              <a:rPr lang="en-US" sz="2200" dirty="0"/>
              <a:t> – Analyze traffic or system logs for malicious activity.</a:t>
            </a:r>
            <a:br>
              <a:rPr lang="en-US" sz="2200" dirty="0"/>
            </a:br>
            <a:r>
              <a:rPr lang="en-US" sz="2200" b="1" dirty="0"/>
              <a:t>Network scanners</a:t>
            </a:r>
            <a:r>
              <a:rPr lang="en-US" sz="2200" dirty="0"/>
              <a:t> – Check for insecure ports, services, and vulnerabilities.</a:t>
            </a:r>
          </a:p>
          <a:p>
            <a:pPr lvl="1">
              <a:buFont typeface="Wingdings" panose="05000000000000000000" pitchFamily="2" charset="2"/>
              <a:buChar char="ü"/>
            </a:pPr>
            <a:r>
              <a:rPr lang="en-US" sz="2200" b="1" dirty="0"/>
              <a:t>System scanners</a:t>
            </a:r>
            <a:r>
              <a:rPr lang="en-US" sz="2200" dirty="0"/>
              <a:t> – Identify weak configurations such as unused accounts or writable system files.</a:t>
            </a:r>
          </a:p>
          <a:p>
            <a:pPr lvl="1">
              <a:buFont typeface="Wingdings" panose="05000000000000000000" pitchFamily="2" charset="2"/>
              <a:buChar char="ü"/>
            </a:pPr>
            <a:r>
              <a:rPr lang="en-US" sz="2200" b="1" dirty="0"/>
              <a:t>Misuse and anomaly detectors</a:t>
            </a:r>
            <a:r>
              <a:rPr lang="en-US" sz="2200" dirty="0"/>
              <a:t> – Monitor systems and networks for unusual or unauthorized behavior.</a:t>
            </a:r>
          </a:p>
          <a:p>
            <a:pPr lvl="1">
              <a:buFont typeface="Wingdings" panose="05000000000000000000" pitchFamily="2" charset="2"/>
              <a:buChar char="ü"/>
            </a:pPr>
            <a:r>
              <a:rPr lang="en-US" sz="2200" b="1" dirty="0"/>
              <a:t>Antivirus &amp; content screening tools</a:t>
            </a:r>
            <a:r>
              <a:rPr lang="en-US" sz="2200" dirty="0"/>
              <a:t> – Identify malicious code and abnormal activity.</a:t>
            </a:r>
          </a:p>
          <a:p>
            <a:pPr lvl="1">
              <a:buFont typeface="Wingdings" panose="05000000000000000000" pitchFamily="2" charset="2"/>
              <a:buChar char="ü"/>
            </a:pPr>
            <a:r>
              <a:rPr lang="en-US" sz="2200" b="1" dirty="0"/>
              <a:t>Audit programs</a:t>
            </a:r>
            <a:r>
              <a:rPr lang="en-US" sz="2200" dirty="0"/>
              <a:t> – Provide centralized logging and analysis for accountability and investigations.</a:t>
            </a:r>
            <a:br>
              <a:rPr lang="en-US" sz="2000" dirty="0"/>
            </a:br>
            <a:br>
              <a:rPr lang="en-US" dirty="0"/>
            </a:br>
            <a:endParaRPr lang="en-US" dirty="0"/>
          </a:p>
          <a:p>
            <a:pPr marL="0" indent="0">
              <a:buNone/>
            </a:pPr>
            <a:endParaRPr lang="en-US" dirty="0"/>
          </a:p>
        </p:txBody>
      </p:sp>
    </p:spTree>
    <p:extLst>
      <p:ext uri="{BB962C8B-B14F-4D97-AF65-F5344CB8AC3E}">
        <p14:creationId xmlns:p14="http://schemas.microsoft.com/office/powerpoint/2010/main" val="632312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C73854-AA24-3623-8422-A2B32BDF9EDB}"/>
              </a:ext>
            </a:extLst>
          </p:cNvPr>
          <p:cNvSpPr>
            <a:spLocks noGrp="1"/>
          </p:cNvSpPr>
          <p:nvPr>
            <p:ph idx="1"/>
          </p:nvPr>
        </p:nvSpPr>
        <p:spPr>
          <a:xfrm>
            <a:off x="1069848" y="717755"/>
            <a:ext cx="10058400" cy="5454445"/>
          </a:xfrm>
        </p:spPr>
        <p:txBody>
          <a:bodyPr>
            <a:normAutofit/>
          </a:bodyPr>
          <a:lstStyle/>
          <a:p>
            <a:pPr marL="0" indent="0">
              <a:buNone/>
            </a:pPr>
            <a:r>
              <a:rPr lang="en-US" b="1" dirty="0"/>
              <a:t>3. Responsive Measures</a:t>
            </a:r>
          </a:p>
          <a:p>
            <a:r>
              <a:rPr lang="en-US" dirty="0"/>
              <a:t>These handle incidents when prevention and detection are not enough. They constitute the </a:t>
            </a:r>
            <a:r>
              <a:rPr lang="en-US" b="1" dirty="0"/>
              <a:t>third line of defense</a:t>
            </a:r>
            <a:r>
              <a:rPr lang="en-US" dirty="0"/>
              <a:t>, focused on recovery and continuity:</a:t>
            </a:r>
          </a:p>
          <a:p>
            <a:pPr lvl="1">
              <a:buFont typeface="Wingdings" panose="05000000000000000000" pitchFamily="2" charset="2"/>
              <a:buChar char="ü"/>
            </a:pPr>
            <a:r>
              <a:rPr lang="en-US" sz="2000" b="1" dirty="0"/>
              <a:t>Incident response procedures</a:t>
            </a:r>
            <a:r>
              <a:rPr lang="en-US" sz="2000" dirty="0"/>
              <a:t> – Define what constitutes an incident, reporting steps, and escalation.</a:t>
            </a:r>
          </a:p>
          <a:p>
            <a:pPr lvl="1">
              <a:buFont typeface="Wingdings" panose="05000000000000000000" pitchFamily="2" charset="2"/>
              <a:buChar char="ü"/>
            </a:pPr>
            <a:r>
              <a:rPr lang="en-US" sz="2000" b="1" dirty="0"/>
              <a:t>Automated responses</a:t>
            </a:r>
            <a:r>
              <a:rPr lang="en-US" sz="2000" dirty="0"/>
              <a:t> – IDS/IPS systems that can block connections, shut accounts, or replace files.</a:t>
            </a:r>
          </a:p>
          <a:p>
            <a:pPr lvl="1">
              <a:buFont typeface="Wingdings" panose="05000000000000000000" pitchFamily="2" charset="2"/>
              <a:buChar char="ü"/>
            </a:pPr>
            <a:r>
              <a:rPr lang="en-US" sz="2000" b="1" dirty="0"/>
              <a:t>Disaster recovery plans</a:t>
            </a:r>
            <a:r>
              <a:rPr lang="en-US" sz="2000" dirty="0"/>
              <a:t> – Business continuity strategies, backup and restoration mechanisms.</a:t>
            </a:r>
          </a:p>
          <a:p>
            <a:pPr lvl="1">
              <a:buFont typeface="Wingdings" panose="05000000000000000000" pitchFamily="2" charset="2"/>
              <a:buChar char="ü"/>
            </a:pPr>
            <a:r>
              <a:rPr lang="en-US" sz="2000" b="1" dirty="0"/>
              <a:t>Forensics</a:t>
            </a:r>
            <a:r>
              <a:rPr lang="en-US" sz="2000" dirty="0"/>
              <a:t> – Collection and analysis of digital evidence to support investigations or prosecutions.</a:t>
            </a:r>
          </a:p>
          <a:p>
            <a:pPr marL="274320" lvl="1" indent="0">
              <a:buNone/>
            </a:pPr>
            <a:endParaRPr lang="en-US" dirty="0"/>
          </a:p>
        </p:txBody>
      </p:sp>
    </p:spTree>
    <p:extLst>
      <p:ext uri="{BB962C8B-B14F-4D97-AF65-F5344CB8AC3E}">
        <p14:creationId xmlns:p14="http://schemas.microsoft.com/office/powerpoint/2010/main" val="1473860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E4C05-824F-D224-7D2A-60E44EF0521E}"/>
              </a:ext>
            </a:extLst>
          </p:cNvPr>
          <p:cNvSpPr>
            <a:spLocks noGrp="1"/>
          </p:cNvSpPr>
          <p:nvPr>
            <p:ph type="title"/>
          </p:nvPr>
        </p:nvSpPr>
        <p:spPr>
          <a:xfrm>
            <a:off x="1069848" y="484632"/>
            <a:ext cx="10058400" cy="685407"/>
          </a:xfrm>
        </p:spPr>
        <p:txBody>
          <a:bodyPr>
            <a:normAutofit fontScale="90000"/>
          </a:bodyPr>
          <a:lstStyle/>
          <a:p>
            <a:r>
              <a:rPr lang="en-US" dirty="0"/>
              <a:t>Multilayer defenses</a:t>
            </a:r>
          </a:p>
        </p:txBody>
      </p:sp>
      <p:sp>
        <p:nvSpPr>
          <p:cNvPr id="3" name="Content Placeholder 2">
            <a:extLst>
              <a:ext uri="{FF2B5EF4-FFF2-40B4-BE49-F238E27FC236}">
                <a16:creationId xmlns:a16="http://schemas.microsoft.com/office/drawing/2014/main" id="{13FD0B6D-A9AC-A5E5-52A1-490321D3BB03}"/>
              </a:ext>
            </a:extLst>
          </p:cNvPr>
          <p:cNvSpPr>
            <a:spLocks noGrp="1"/>
          </p:cNvSpPr>
          <p:nvPr>
            <p:ph idx="1"/>
          </p:nvPr>
        </p:nvSpPr>
        <p:spPr>
          <a:xfrm>
            <a:off x="1069848" y="1327355"/>
            <a:ext cx="10058400" cy="5348748"/>
          </a:xfrm>
        </p:spPr>
        <p:txBody>
          <a:bodyPr>
            <a:normAutofit/>
          </a:bodyPr>
          <a:lstStyle/>
          <a:p>
            <a:r>
              <a:rPr lang="en-US" dirty="0"/>
              <a:t>A single line of defense (e.g., just a firewall) is inadequate. If compromised, the system is exposed. A multilayer defense provides overlapping protection at different points: perimeter, servers, desktops.</a:t>
            </a:r>
          </a:p>
          <a:p>
            <a:pPr marL="0" indent="0">
              <a:buNone/>
            </a:pPr>
            <a:r>
              <a:rPr lang="en-US" b="1" dirty="0"/>
              <a:t>	1. Perimeter Defense (First Line of Defense)</a:t>
            </a:r>
          </a:p>
          <a:p>
            <a:r>
              <a:rPr lang="en-US" dirty="0"/>
              <a:t>Purpose: Protects the network against external threats.</a:t>
            </a:r>
          </a:p>
          <a:p>
            <a:pPr marL="0" indent="0">
              <a:buNone/>
            </a:pPr>
            <a:r>
              <a:rPr lang="en-US" b="1" dirty="0"/>
              <a:t>	Tools:  </a:t>
            </a:r>
          </a:p>
          <a:p>
            <a:pPr>
              <a:buFont typeface="Wingdings" panose="05000000000000000000" pitchFamily="2" charset="2"/>
              <a:buChar char="ü"/>
            </a:pPr>
            <a:r>
              <a:rPr lang="en-US" dirty="0"/>
              <a:t>Firewalls.</a:t>
            </a:r>
          </a:p>
          <a:p>
            <a:pPr>
              <a:buFont typeface="Wingdings" panose="05000000000000000000" pitchFamily="2" charset="2"/>
              <a:buChar char="ü"/>
            </a:pPr>
            <a:r>
              <a:rPr lang="en-US" dirty="0"/>
              <a:t>Access control mechanisms.</a:t>
            </a:r>
          </a:p>
          <a:p>
            <a:pPr>
              <a:buFont typeface="Wingdings" panose="05000000000000000000" pitchFamily="2" charset="2"/>
              <a:buChar char="ü"/>
            </a:pPr>
            <a:r>
              <a:rPr lang="en-US" dirty="0"/>
              <a:t>Strong user authentication.</a:t>
            </a:r>
          </a:p>
          <a:p>
            <a:pPr>
              <a:buFont typeface="Wingdings" panose="05000000000000000000" pitchFamily="2" charset="2"/>
              <a:buChar char="ü"/>
            </a:pPr>
            <a:r>
              <a:rPr lang="en-US" dirty="0"/>
              <a:t>VPNs (Virtual Private Networks).</a:t>
            </a:r>
          </a:p>
          <a:p>
            <a:pPr>
              <a:buFont typeface="Wingdings" panose="05000000000000000000" pitchFamily="2" charset="2"/>
              <a:buChar char="ü"/>
            </a:pPr>
            <a:r>
              <a:rPr lang="en-US" dirty="0"/>
              <a:t>Antivirus and content filtering (spam, malware, malicious code).</a:t>
            </a:r>
          </a:p>
          <a:p>
            <a:pPr marL="0" indent="0">
              <a:buNone/>
            </a:pPr>
            <a:r>
              <a:rPr lang="en-US" b="1" dirty="0"/>
              <a:t>	</a:t>
            </a:r>
            <a:endParaRPr lang="en-US" dirty="0"/>
          </a:p>
        </p:txBody>
      </p:sp>
    </p:spTree>
    <p:extLst>
      <p:ext uri="{BB962C8B-B14F-4D97-AF65-F5344CB8AC3E}">
        <p14:creationId xmlns:p14="http://schemas.microsoft.com/office/powerpoint/2010/main" val="2364706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2BBCBD-2A53-A4FB-67B7-B23E7A2295D9}"/>
              </a:ext>
            </a:extLst>
          </p:cNvPr>
          <p:cNvSpPr>
            <a:spLocks noGrp="1"/>
          </p:cNvSpPr>
          <p:nvPr>
            <p:ph idx="1"/>
          </p:nvPr>
        </p:nvSpPr>
        <p:spPr>
          <a:xfrm>
            <a:off x="1069848" y="580103"/>
            <a:ext cx="10058400" cy="6076336"/>
          </a:xfrm>
        </p:spPr>
        <p:txBody>
          <a:bodyPr>
            <a:normAutofit fontScale="92500" lnSpcReduction="10000"/>
          </a:bodyPr>
          <a:lstStyle/>
          <a:p>
            <a:pPr marL="0" indent="0">
              <a:buNone/>
            </a:pPr>
            <a:r>
              <a:rPr lang="en-US" sz="2200" b="1" dirty="0"/>
              <a:t>Challenge: </a:t>
            </a:r>
          </a:p>
          <a:p>
            <a:pPr>
              <a:buFont typeface="Wingdings" panose="05000000000000000000" pitchFamily="2" charset="2"/>
              <a:buChar char="ü"/>
            </a:pPr>
            <a:r>
              <a:rPr lang="en-US" sz="2200" dirty="0"/>
              <a:t>Hardest to manage since a tiny invisible vulnerability can bring down the whole network.</a:t>
            </a:r>
          </a:p>
          <a:p>
            <a:pPr>
              <a:buFont typeface="Wingdings" panose="05000000000000000000" pitchFamily="2" charset="2"/>
              <a:buChar char="ü"/>
            </a:pPr>
            <a:r>
              <a:rPr lang="en-US" sz="2200" dirty="0"/>
              <a:t>Analogy: Like walls, gates, and fences around a house.</a:t>
            </a:r>
            <a:br>
              <a:rPr lang="en-US" sz="2200" dirty="0"/>
            </a:br>
            <a:endParaRPr lang="en-US" sz="2200" dirty="0"/>
          </a:p>
          <a:p>
            <a:pPr marL="0" indent="0">
              <a:buNone/>
            </a:pPr>
            <a:r>
              <a:rPr lang="en-US" sz="2200" dirty="0"/>
              <a:t>	</a:t>
            </a:r>
            <a:r>
              <a:rPr lang="en-US" sz="2200" b="1" dirty="0"/>
              <a:t>2. Servers (Internal Defense)</a:t>
            </a:r>
          </a:p>
          <a:p>
            <a:r>
              <a:rPr lang="en-US" sz="2200" dirty="0"/>
              <a:t>Purpose: Safeguard central systems hosting data and applications.</a:t>
            </a:r>
          </a:p>
          <a:p>
            <a:r>
              <a:rPr lang="en-US" sz="2200" dirty="0"/>
              <a:t>Why important: Servers are connected to many devices hence attractive to attackers.</a:t>
            </a:r>
          </a:p>
          <a:p>
            <a:pPr marL="274320" lvl="1" indent="0">
              <a:buNone/>
            </a:pPr>
            <a:r>
              <a:rPr lang="en-US" sz="2200" b="1" dirty="0"/>
              <a:t>	Protections Needed:</a:t>
            </a:r>
          </a:p>
          <a:p>
            <a:pPr>
              <a:buFont typeface="Wingdings" panose="05000000000000000000" pitchFamily="2" charset="2"/>
              <a:buChar char="ü"/>
            </a:pPr>
            <a:r>
              <a:rPr lang="en-US" sz="2200" dirty="0"/>
              <a:t>Security hardening (patches, configurations).</a:t>
            </a:r>
          </a:p>
          <a:p>
            <a:pPr>
              <a:buFont typeface="Wingdings" panose="05000000000000000000" pitchFamily="2" charset="2"/>
              <a:buChar char="ü"/>
            </a:pPr>
            <a:r>
              <a:rPr lang="en-US" sz="2200" dirty="0"/>
              <a:t>Intrusion detection systems.</a:t>
            </a:r>
          </a:p>
          <a:p>
            <a:pPr>
              <a:buFont typeface="Wingdings" panose="05000000000000000000" pitchFamily="2" charset="2"/>
              <a:buChar char="ü"/>
            </a:pPr>
            <a:r>
              <a:rPr lang="en-US" sz="2200" dirty="0"/>
              <a:t>Access controls.</a:t>
            </a:r>
          </a:p>
          <a:p>
            <a:pPr>
              <a:buFont typeface="Wingdings" panose="05000000000000000000" pitchFamily="2" charset="2"/>
              <a:buChar char="ü"/>
            </a:pPr>
            <a:r>
              <a:rPr lang="en-US" sz="2200" dirty="0"/>
              <a:t>Backups and disaster recovery.</a:t>
            </a:r>
          </a:p>
          <a:p>
            <a:pPr marL="0" indent="0">
              <a:buNone/>
            </a:pPr>
            <a:r>
              <a:rPr lang="en-US" sz="2200" b="1" dirty="0"/>
              <a:t>	Risk: </a:t>
            </a:r>
          </a:p>
          <a:p>
            <a:pPr>
              <a:buFont typeface="Wingdings" panose="05000000000000000000" pitchFamily="2" charset="2"/>
              <a:buChar char="ü"/>
            </a:pPr>
            <a:r>
              <a:rPr lang="en-US" sz="2200" dirty="0"/>
              <a:t>Insider attacks or misconfigured systems can bypass perimeter defenses</a:t>
            </a:r>
            <a:r>
              <a:rPr lang="en-US" dirty="0"/>
              <a:t>.</a:t>
            </a:r>
            <a:br>
              <a:rPr lang="en-US" dirty="0"/>
            </a:br>
            <a:endParaRPr lang="en-US" dirty="0"/>
          </a:p>
        </p:txBody>
      </p:sp>
    </p:spTree>
    <p:extLst>
      <p:ext uri="{BB962C8B-B14F-4D97-AF65-F5344CB8AC3E}">
        <p14:creationId xmlns:p14="http://schemas.microsoft.com/office/powerpoint/2010/main" val="3988319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5804B-324D-5DA3-34B3-9014D11779A0}"/>
              </a:ext>
            </a:extLst>
          </p:cNvPr>
          <p:cNvSpPr>
            <a:spLocks noGrp="1"/>
          </p:cNvSpPr>
          <p:nvPr>
            <p:ph idx="1"/>
          </p:nvPr>
        </p:nvSpPr>
        <p:spPr>
          <a:xfrm>
            <a:off x="1069848" y="304800"/>
            <a:ext cx="10058400" cy="6420465"/>
          </a:xfrm>
        </p:spPr>
        <p:txBody>
          <a:bodyPr>
            <a:normAutofit fontScale="92500" lnSpcReduction="20000"/>
          </a:bodyPr>
          <a:lstStyle/>
          <a:p>
            <a:pPr marL="274320" lvl="1" indent="0">
              <a:buNone/>
            </a:pPr>
            <a:r>
              <a:rPr lang="en-US" sz="2200" b="1" dirty="0"/>
              <a:t>3. Desktops &amp; End-User Devices (Final Layer)</a:t>
            </a:r>
          </a:p>
          <a:p>
            <a:r>
              <a:rPr lang="en-US" sz="2200" dirty="0"/>
              <a:t>Purpose: Lock down end-users who are typically the weakest link.</a:t>
            </a:r>
          </a:p>
          <a:p>
            <a:pPr marL="0" indent="0">
              <a:buNone/>
            </a:pPr>
            <a:br>
              <a:rPr lang="en-US" sz="2200" dirty="0"/>
            </a:br>
            <a:r>
              <a:rPr lang="en-US" sz="2200" b="1" dirty="0"/>
              <a:t>Tools &amp; Measures:</a:t>
            </a:r>
          </a:p>
          <a:p>
            <a:pPr>
              <a:buFont typeface="Wingdings" panose="05000000000000000000" pitchFamily="2" charset="2"/>
              <a:buChar char="ü"/>
            </a:pPr>
            <a:r>
              <a:rPr lang="en-US" sz="2200" dirty="0"/>
              <a:t>Biometrics (finger print, face recognition) for access.</a:t>
            </a:r>
          </a:p>
          <a:p>
            <a:pPr>
              <a:buFont typeface="Wingdings" panose="05000000000000000000" pitchFamily="2" charset="2"/>
              <a:buChar char="ü"/>
            </a:pPr>
            <a:r>
              <a:rPr lang="en-US" sz="2200" dirty="0"/>
              <a:t>File/data encryption (protect sensitive information on shared computers).</a:t>
            </a:r>
          </a:p>
          <a:p>
            <a:pPr>
              <a:buFont typeface="Wingdings" panose="05000000000000000000" pitchFamily="2" charset="2"/>
              <a:buChar char="ü"/>
            </a:pPr>
            <a:r>
              <a:rPr lang="en-US" sz="2200" dirty="0"/>
              <a:t>Antivirus software, personal firewalls.</a:t>
            </a:r>
          </a:p>
          <a:p>
            <a:pPr>
              <a:buFont typeface="Wingdings" panose="05000000000000000000" pitchFamily="2" charset="2"/>
              <a:buChar char="ü"/>
            </a:pPr>
            <a:r>
              <a:rPr lang="en-US" sz="2200" dirty="0"/>
              <a:t>Security checkers to find weaknesses.</a:t>
            </a:r>
          </a:p>
          <a:p>
            <a:pPr marL="0" indent="0">
              <a:buNone/>
            </a:pPr>
            <a:r>
              <a:rPr lang="en-US" sz="2200" dirty="0"/>
              <a:t>	Includes: Mobile devices (laptops, phones) which also need strong security.</a:t>
            </a:r>
          </a:p>
          <a:p>
            <a:pPr marL="0" indent="0">
              <a:buNone/>
            </a:pPr>
            <a:endParaRPr lang="en-US" sz="2200" dirty="0"/>
          </a:p>
          <a:p>
            <a:pPr marL="0" indent="0">
              <a:buNone/>
            </a:pPr>
            <a:r>
              <a:rPr lang="en-US" sz="2200" dirty="0"/>
              <a:t>	</a:t>
            </a:r>
            <a:r>
              <a:rPr lang="en-US" sz="2200" b="1" dirty="0"/>
              <a:t>Analogy of Multilayer Defense</a:t>
            </a:r>
          </a:p>
          <a:p>
            <a:pPr>
              <a:buFont typeface="Wingdings" panose="05000000000000000000" pitchFamily="2" charset="2"/>
              <a:buChar char="ü"/>
            </a:pPr>
            <a:r>
              <a:rPr lang="en-US" sz="2200" dirty="0"/>
              <a:t>House </a:t>
            </a:r>
            <a:r>
              <a:rPr lang="en-US" sz="2200" dirty="0" err="1"/>
              <a:t>with:Wall</a:t>
            </a:r>
            <a:r>
              <a:rPr lang="en-US" sz="2200" dirty="0"/>
              <a:t> + gate (perimeter).</a:t>
            </a:r>
          </a:p>
          <a:p>
            <a:pPr>
              <a:buFont typeface="Wingdings" panose="05000000000000000000" pitchFamily="2" charset="2"/>
              <a:buChar char="ü"/>
            </a:pPr>
            <a:r>
              <a:rPr lang="en-US" sz="2200" dirty="0"/>
              <a:t>Watchdog (server protections)</a:t>
            </a:r>
          </a:p>
          <a:p>
            <a:pPr>
              <a:buFont typeface="Wingdings" panose="05000000000000000000" pitchFamily="2" charset="2"/>
              <a:buChar char="ü"/>
            </a:pPr>
            <a:r>
              <a:rPr lang="en-US" sz="2200" dirty="0"/>
              <a:t>Locked doors &amp; windows (desktops).</a:t>
            </a:r>
          </a:p>
          <a:p>
            <a:pPr marL="0" indent="0">
              <a:buNone/>
            </a:pPr>
            <a:endParaRPr lang="en-US" sz="2200" dirty="0"/>
          </a:p>
          <a:p>
            <a:r>
              <a:rPr lang="en-US" sz="2200" dirty="0"/>
              <a:t>Each layer protects against different threats.</a:t>
            </a:r>
          </a:p>
          <a:p>
            <a:r>
              <a:rPr lang="en-US" sz="2200" dirty="0"/>
              <a:t>Reduces the likelihood of a single failure taking down the entire system.</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851341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E6228-64E9-EE83-BEFC-E6FE8394201E}"/>
              </a:ext>
            </a:extLst>
          </p:cNvPr>
          <p:cNvSpPr>
            <a:spLocks noGrp="1"/>
          </p:cNvSpPr>
          <p:nvPr>
            <p:ph type="title"/>
          </p:nvPr>
        </p:nvSpPr>
        <p:spPr>
          <a:xfrm>
            <a:off x="1069848" y="484632"/>
            <a:ext cx="10058400" cy="990207"/>
          </a:xfrm>
        </p:spPr>
        <p:txBody>
          <a:bodyPr/>
          <a:lstStyle/>
          <a:p>
            <a:r>
              <a:rPr lang="en-US" dirty="0"/>
              <a:t>Implementation approach</a:t>
            </a:r>
          </a:p>
        </p:txBody>
      </p:sp>
      <p:sp>
        <p:nvSpPr>
          <p:cNvPr id="3" name="Content Placeholder 2">
            <a:extLst>
              <a:ext uri="{FF2B5EF4-FFF2-40B4-BE49-F238E27FC236}">
                <a16:creationId xmlns:a16="http://schemas.microsoft.com/office/drawing/2014/main" id="{CFA3F3F7-3BAF-7E36-F072-F49B30E46C01}"/>
              </a:ext>
            </a:extLst>
          </p:cNvPr>
          <p:cNvSpPr>
            <a:spLocks noGrp="1"/>
          </p:cNvSpPr>
          <p:nvPr>
            <p:ph idx="1"/>
          </p:nvPr>
        </p:nvSpPr>
        <p:spPr>
          <a:xfrm>
            <a:off x="1069848" y="1474839"/>
            <a:ext cx="10058400" cy="4697361"/>
          </a:xfrm>
        </p:spPr>
        <p:txBody>
          <a:bodyPr>
            <a:normAutofit/>
          </a:bodyPr>
          <a:lstStyle/>
          <a:p>
            <a:pPr marL="0" indent="0">
              <a:buNone/>
            </a:pPr>
            <a:r>
              <a:rPr lang="en-US" b="1" dirty="0"/>
              <a:t>	1. Initiate the Effort</a:t>
            </a:r>
          </a:p>
          <a:p>
            <a:r>
              <a:rPr lang="en-US" dirty="0"/>
              <a:t>This first stage defines the security requirements in relation to the organization’s business goals. A security vision is established, and a dedicated security team is formed to lead the initiative. Change management is emphasized to overcome resistance and motivate managers, developers, and users to support the process.</a:t>
            </a:r>
          </a:p>
          <a:p>
            <a:pPr marL="0" indent="0">
              <a:buNone/>
            </a:pPr>
            <a:endParaRPr lang="en-US" dirty="0"/>
          </a:p>
          <a:p>
            <a:pPr marL="0" indent="0">
              <a:buNone/>
            </a:pPr>
            <a:r>
              <a:rPr lang="en-US" dirty="0"/>
              <a:t>	</a:t>
            </a:r>
            <a:r>
              <a:rPr lang="en-US" b="1" dirty="0"/>
              <a:t>2. Describe Where You Are</a:t>
            </a:r>
          </a:p>
          <a:p>
            <a:r>
              <a:rPr lang="en-US" dirty="0"/>
              <a:t> The current security state is assessed through asset identification, threat and vulnerability analysis, and risk evaluation. This helps determine what must be protected and to what extent under worst-case scenarios. Gaps between current and desired states are highlighted to create urgency and justify the need for change.</a:t>
            </a:r>
          </a:p>
          <a:p>
            <a:pPr marL="0" indent="0">
              <a:buNone/>
            </a:pPr>
            <a:br>
              <a:rPr lang="en-US" dirty="0"/>
            </a:br>
            <a:endParaRPr lang="en-US" dirty="0"/>
          </a:p>
        </p:txBody>
      </p:sp>
    </p:spTree>
    <p:extLst>
      <p:ext uri="{BB962C8B-B14F-4D97-AF65-F5344CB8AC3E}">
        <p14:creationId xmlns:p14="http://schemas.microsoft.com/office/powerpoint/2010/main" val="1192676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C83E68-681B-0229-20F3-02F565D44504}"/>
              </a:ext>
            </a:extLst>
          </p:cNvPr>
          <p:cNvSpPr>
            <a:spLocks noGrp="1"/>
          </p:cNvSpPr>
          <p:nvPr>
            <p:ph idx="1"/>
          </p:nvPr>
        </p:nvSpPr>
        <p:spPr>
          <a:xfrm>
            <a:off x="1069848" y="717755"/>
            <a:ext cx="10058400" cy="5454445"/>
          </a:xfrm>
        </p:spPr>
        <p:txBody>
          <a:bodyPr/>
          <a:lstStyle/>
          <a:p>
            <a:pPr marL="0" indent="0">
              <a:buNone/>
            </a:pPr>
            <a:r>
              <a:rPr lang="en-US" dirty="0"/>
              <a:t>	</a:t>
            </a:r>
            <a:r>
              <a:rPr lang="en-US" b="1" dirty="0"/>
              <a:t>3. Identify Where You Would Like to Be</a:t>
            </a:r>
          </a:p>
          <a:p>
            <a:r>
              <a:rPr lang="en-US" dirty="0"/>
              <a:t> In this phase, the target security architecture is designed, including its mechanisms and attributes. Clear performance goals are defined to represent the desired future state, such as improved availability and resilience. Communicating these valued outcomes builds organizational commitment and provides measurable benchmarks for progress.</a:t>
            </a:r>
          </a:p>
          <a:p>
            <a:endParaRPr lang="en-US" dirty="0"/>
          </a:p>
          <a:p>
            <a:pPr marL="822960" lvl="3" indent="0">
              <a:buNone/>
            </a:pPr>
            <a:r>
              <a:rPr lang="en-US" sz="2000" b="1" dirty="0"/>
              <a:t>4. Plan How to Get There</a:t>
            </a:r>
          </a:p>
          <a:p>
            <a:r>
              <a:rPr lang="en-US" dirty="0"/>
              <a:t>A detailed transition plan is created to bridge the gap between current and target security states. The work is divided into prioritized subprojects, responsibilities are assigned, and a roadmap is developed. Management approval is secured to ensure adequate support and resource allocation.</a:t>
            </a:r>
          </a:p>
          <a:p>
            <a:pPr marL="0" indent="0">
              <a:buNone/>
            </a:pPr>
            <a:endParaRPr lang="en-US" dirty="0"/>
          </a:p>
        </p:txBody>
      </p:sp>
    </p:spTree>
    <p:extLst>
      <p:ext uri="{BB962C8B-B14F-4D97-AF65-F5344CB8AC3E}">
        <p14:creationId xmlns:p14="http://schemas.microsoft.com/office/powerpoint/2010/main" val="1840536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49CA54-3020-3A4D-E7CA-E163CF54E68D}"/>
              </a:ext>
            </a:extLst>
          </p:cNvPr>
          <p:cNvSpPr>
            <a:spLocks noGrp="1"/>
          </p:cNvSpPr>
          <p:nvPr>
            <p:ph idx="1"/>
          </p:nvPr>
        </p:nvSpPr>
        <p:spPr>
          <a:xfrm>
            <a:off x="1069848" y="796413"/>
            <a:ext cx="10058400" cy="5375787"/>
          </a:xfrm>
        </p:spPr>
        <p:txBody>
          <a:bodyPr/>
          <a:lstStyle/>
          <a:p>
            <a:pPr marL="0" indent="0">
              <a:buNone/>
            </a:pPr>
            <a:r>
              <a:rPr lang="en-US" dirty="0"/>
              <a:t>	</a:t>
            </a:r>
            <a:r>
              <a:rPr lang="en-US" b="1" dirty="0"/>
              <a:t>5. Execute the Plan</a:t>
            </a:r>
          </a:p>
          <a:p>
            <a:r>
              <a:rPr lang="en-US" dirty="0"/>
              <a:t>This step focuses on implementing the security architecture and embedding it into business and technical processes. Adjustments may be made to respond to emerging threats or changes in technology. Stakeholder engagement is maintained to ensure momentum and successful completion of the initiative.</a:t>
            </a:r>
          </a:p>
          <a:p>
            <a:endParaRPr lang="en-US" dirty="0"/>
          </a:p>
          <a:p>
            <a:pPr marL="0" indent="0">
              <a:buNone/>
            </a:pPr>
            <a:r>
              <a:rPr lang="en-US" dirty="0"/>
              <a:t>	</a:t>
            </a:r>
            <a:r>
              <a:rPr lang="en-US" b="1" dirty="0"/>
              <a:t>6. Keep the Initiative Alive</a:t>
            </a:r>
          </a:p>
          <a:p>
            <a:r>
              <a:rPr lang="en-US" dirty="0"/>
              <a:t>Security operations are continuously monitored and updated to stay ahead of evolving threats. Criteria are set for determining when to revise the security architecture or begin a new cycle of improvement. The focus remains on making meaningful changes that add business and security value while avoiding unnecessary complexity.</a:t>
            </a:r>
          </a:p>
          <a:p>
            <a:pPr marL="0" indent="0">
              <a:buNone/>
            </a:pPr>
            <a:br>
              <a:rPr lang="en-US" dirty="0"/>
            </a:br>
            <a:endParaRPr lang="en-US" dirty="0"/>
          </a:p>
        </p:txBody>
      </p:sp>
    </p:spTree>
    <p:extLst>
      <p:ext uri="{BB962C8B-B14F-4D97-AF65-F5344CB8AC3E}">
        <p14:creationId xmlns:p14="http://schemas.microsoft.com/office/powerpoint/2010/main" val="3050528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{F689FE22-0631-4AC3-8D0E-8D7E946CF338}TF2ec419c9-97c3-4958-b02a-0886397d33afcfe10e4b-d68909c4b1b0</Template>
  <TotalTime>55</TotalTime>
  <Words>1562</Words>
  <Application>Microsoft Office PowerPoint</Application>
  <PresentationFormat>Widescreen</PresentationFormat>
  <Paragraphs>137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Rockwell</vt:lpstr>
      <vt:lpstr>Rockwell Condensed</vt:lpstr>
      <vt:lpstr>Wingdings</vt:lpstr>
      <vt:lpstr>Wood Type</vt:lpstr>
      <vt:lpstr> A Practical Approach to Enterprise IT Security GROUP 8 </vt:lpstr>
      <vt:lpstr>Introduction and the layers </vt:lpstr>
      <vt:lpstr>Multigroup involvement</vt:lpstr>
      <vt:lpstr>PowerPoint Presentation</vt:lpstr>
      <vt:lpstr>PowerPoint Presentation</vt:lpstr>
      <vt:lpstr>Multidimensional security mechanisms</vt:lpstr>
      <vt:lpstr>PowerPoint Presentation</vt:lpstr>
      <vt:lpstr>PowerPoint Presentation</vt:lpstr>
      <vt:lpstr>Multilayer defenses</vt:lpstr>
      <vt:lpstr>PowerPoint Presentation</vt:lpstr>
      <vt:lpstr>PowerPoint Presentation</vt:lpstr>
      <vt:lpstr>Implementation approach</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Msuya</dc:creator>
  <cp:lastModifiedBy>Emmanuel Msuya</cp:lastModifiedBy>
  <cp:revision>2</cp:revision>
  <dcterms:created xsi:type="dcterms:W3CDTF">2025-09-21T19:08:19Z</dcterms:created>
  <dcterms:modified xsi:type="dcterms:W3CDTF">2025-09-21T20:04:05Z</dcterms:modified>
</cp:coreProperties>
</file>